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70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198"/>
    <p:restoredTop sz="94610"/>
  </p:normalViewPr>
  <p:slideViewPr>
    <p:cSldViewPr snapToGrid="0" snapToObjects="1">
      <p:cViewPr varScale="1">
        <p:scale>
          <a:sx n="126" d="100"/>
          <a:sy n="126" d="100"/>
        </p:scale>
        <p:origin x="224" y="8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08464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slide. Replace the placeholders with your names and the bootcamp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the dataset and the time-window framework (Today / 7 / 14 / 30 days) which is the same framework the dashboard and the model use.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Bridge slide: show briefly, then switch to Tableau and walk through the map, KPIs, hex density (2014 selected) and state wildfire rate. Use one filter (e.g. Season = Summer or State = CA) to show interactivity.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that this page is about data distribution. Point out the Today vs 30-day difference on Min Relative Humidity and Precipitation. Then hand over to the ML part.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 — one sentence: 'Once the data was prepared, we started the ML process.'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— Slide 1 (ML pipeline): identifiers and redundant variables removed → 40 features. Spatial split by lat/lon to avoid leakage. Random Forest baseline + permutation importance. OOF re-check: results virtually unchanged. 40 → 14 features; XGBoost trained and tuned with both sets.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— Slide 2 (performance): final model = XGBoost 14 features; chosen because much simpler with similar performance. 69% test accuracy, 79% wildfire recall. 40-feature model kept as benchmark.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— Slide 3 (thresholds): at 0.50 we detect ~5K wildfires and miss ~1.4K. At 0.35 we detect almost 6K and miss only ~500, but get ~3.5K false positives. Lower threshold = more fires caught, more false alarms.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SPEECH — Slide 4 (limitations): synthetic negatives; continental US only; overfitting (13.5 pp train-test gap); correlation not causation. Conclusion: experimental predictive model, not an operational warning system.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Section divider. One sentence and move on to the 'how the demo works'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4 steps quickly (≈45 s), then switch to the notebook.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Optional slide — show only if the audience asks what the inputs are, or refer to it while filling the demo. Note the mix: 10 historical windows + 4 Today values.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four takeaways and open for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2.png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6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0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openxmlformats.org/officeDocument/2006/relationships/image" Target="../media/image2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5" Type="http://schemas.openxmlformats.org/officeDocument/2006/relationships/image" Target="../media/image10.png"/><Relationship Id="rId4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heade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>
              <a:alpha val="65000"/>
            </a:srgbClr>
          </a:solidFill>
          <a:ln w="12700">
            <a:solidFill>
              <a:srgbClr val="0F1B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3291840"/>
            <a:ext cx="12191695" cy="3566160"/>
          </a:xfrm>
          <a:prstGeom prst="rect">
            <a:avLst/>
          </a:prstGeom>
          <a:solidFill>
            <a:srgbClr val="0F1B2D">
              <a:alpha val="80000"/>
            </a:srgbClr>
          </a:solidFill>
          <a:ln w="12700">
            <a:solidFill>
              <a:srgbClr val="0F1B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 txBox="1"/>
          <p:nvPr/>
        </p:nvSpPr>
        <p:spPr>
          <a:xfrm>
            <a:off x="731520" y="3429000"/>
            <a:ext cx="10789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Wildfire Ignition in the USA</a:t>
            </a:r>
            <a:endParaRPr lang="en-US" sz="4600" dirty="0"/>
          </a:p>
        </p:txBody>
      </p:sp>
      <p:sp>
        <p:nvSpPr>
          <p:cNvPr id="7" name="Text 4"/>
          <p:cNvSpPr txBox="1"/>
          <p:nvPr/>
        </p:nvSpPr>
        <p:spPr>
          <a:xfrm>
            <a:off x="73152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Calvo Sánchez </a:t>
            </a:r>
          </a:p>
          <a:p>
            <a:pPr marL="0" indent="0">
              <a:buNone/>
            </a:pPr>
            <a:r>
              <a:rPr lang="en-US" sz="14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Ricardo Higginson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 behind the project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Wildfire Dataset 2014–2025 (FireCastRL, Kaggle) — weather from GRIDMET, ignitions from IRWIN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5120640" cy="4389120"/>
          </a:xfrm>
          <a:prstGeom prst="roundRect">
            <a:avLst>
              <a:gd name="adj" fmla="val 2500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 txBox="1"/>
          <p:nvPr/>
        </p:nvSpPr>
        <p:spPr>
          <a:xfrm>
            <a:off x="731520" y="2057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126K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2624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labelled observations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3108960" y="205740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26.5%</a:t>
            </a:r>
            <a:endParaRPr lang="en-US" sz="3400" dirty="0"/>
          </a:p>
        </p:txBody>
      </p:sp>
      <p:sp>
        <p:nvSpPr>
          <p:cNvPr id="8" name="Text 6"/>
          <p:cNvSpPr txBox="1"/>
          <p:nvPr/>
        </p:nvSpPr>
        <p:spPr>
          <a:xfrm>
            <a:off x="3108960" y="262432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cases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731520" y="3474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1F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3400" dirty="0"/>
          </a:p>
        </p:txBody>
      </p:sp>
      <p:sp>
        <p:nvSpPr>
          <p:cNvPr id="10" name="Text 8"/>
          <p:cNvSpPr txBox="1"/>
          <p:nvPr/>
        </p:nvSpPr>
        <p:spPr>
          <a:xfrm>
            <a:off x="731520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GRIDMET weather variables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3108960" y="3474720"/>
            <a:ext cx="23774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75</a:t>
            </a:r>
            <a:endParaRPr lang="en-US" sz="3400" dirty="0"/>
          </a:p>
        </p:txBody>
      </p:sp>
      <p:sp>
        <p:nvSpPr>
          <p:cNvPr id="12" name="Text 10"/>
          <p:cNvSpPr txBox="1"/>
          <p:nvPr/>
        </p:nvSpPr>
        <p:spPr>
          <a:xfrm>
            <a:off x="3108960" y="4041648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of weather per observation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822960" y="4846320"/>
            <a:ext cx="45720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row = one location on one reference day ("Today"), with the weather of the previous 60 days. Negative (non-fire) samples were synthesised by the dataset authors using spatial and temporal offsets.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6126480" y="1737360"/>
            <a:ext cx="5486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summarise the weather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6126480" y="2331720"/>
            <a:ext cx="548640" cy="54864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613" y="2479853"/>
            <a:ext cx="252374" cy="25237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858000" y="233172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138160" y="233172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conditions on the reference day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6126480" y="3108960"/>
            <a:ext cx="548640" cy="548640"/>
          </a:xfrm>
          <a:prstGeom prst="ellipse">
            <a:avLst/>
          </a:prstGeom>
          <a:solidFill>
            <a:srgbClr val="6C8EBF"/>
          </a:solidFill>
          <a:ln w="12700">
            <a:solidFill>
              <a:srgbClr val="6C8EB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613" y="3257093"/>
            <a:ext cx="252374" cy="25237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6858000" y="310896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F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days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8138160" y="310896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/ median / min / max of the previous week</a:t>
            </a:r>
            <a:endParaRPr lang="en-US" sz="1300" dirty="0"/>
          </a:p>
        </p:txBody>
      </p:sp>
      <p:sp>
        <p:nvSpPr>
          <p:cNvPr id="23" name="Shape 19"/>
          <p:cNvSpPr/>
          <p:nvPr/>
        </p:nvSpPr>
        <p:spPr>
          <a:xfrm>
            <a:off x="6126480" y="3886200"/>
            <a:ext cx="548640" cy="548640"/>
          </a:xfrm>
          <a:prstGeom prst="ellipse">
            <a:avLst/>
          </a:prstGeom>
          <a:solidFill>
            <a:srgbClr val="4E9A7A"/>
          </a:solidFill>
          <a:ln w="12700">
            <a:solidFill>
              <a:srgbClr val="4E9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613" y="4034333"/>
            <a:ext cx="252374" cy="252374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6858000" y="388620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E9A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days</a:t>
            </a:r>
            <a:endParaRPr lang="en-US" sz="1600" dirty="0"/>
          </a:p>
        </p:txBody>
      </p:sp>
      <p:sp>
        <p:nvSpPr>
          <p:cNvPr id="26" name="Text 21"/>
          <p:cNvSpPr txBox="1"/>
          <p:nvPr/>
        </p:nvSpPr>
        <p:spPr>
          <a:xfrm>
            <a:off x="8138160" y="388620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Two-week background conditions</a:t>
            </a:r>
            <a:endParaRPr lang="en-US" sz="1300" dirty="0"/>
          </a:p>
        </p:txBody>
      </p:sp>
      <p:sp>
        <p:nvSpPr>
          <p:cNvPr id="27" name="Shape 22"/>
          <p:cNvSpPr/>
          <p:nvPr/>
        </p:nvSpPr>
        <p:spPr>
          <a:xfrm>
            <a:off x="6126480" y="4663440"/>
            <a:ext cx="548640" cy="54864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74613" y="4811573"/>
            <a:ext cx="252374" cy="252374"/>
          </a:xfrm>
          <a:prstGeom prst="rect">
            <a:avLst/>
          </a:prstGeom>
        </p:spPr>
      </p:pic>
      <p:sp>
        <p:nvSpPr>
          <p:cNvPr id="29" name="Text 23"/>
          <p:cNvSpPr txBox="1"/>
          <p:nvPr/>
        </p:nvSpPr>
        <p:spPr>
          <a:xfrm>
            <a:off x="6858000" y="4663440"/>
            <a:ext cx="1280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days</a:t>
            </a:r>
            <a:endParaRPr lang="en-US" sz="1600" dirty="0"/>
          </a:p>
        </p:txBody>
      </p:sp>
      <p:sp>
        <p:nvSpPr>
          <p:cNvPr id="30" name="Text 24"/>
          <p:cNvSpPr txBox="1"/>
          <p:nvPr/>
        </p:nvSpPr>
        <p:spPr>
          <a:xfrm>
            <a:off x="8138160" y="4663440"/>
            <a:ext cx="3566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drought and heat build-up</a:t>
            </a:r>
            <a:endParaRPr lang="en-US" sz="1300" dirty="0"/>
          </a:p>
        </p:txBody>
      </p:sp>
      <p:sp>
        <p:nvSpPr>
          <p:cNvPr id="31" name="Text 25"/>
          <p:cNvSpPr txBox="1"/>
          <p:nvPr/>
        </p:nvSpPr>
        <p:spPr>
          <a:xfrm>
            <a:off x="6126480" y="5486400"/>
            <a:ext cx="5486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variables: precipitation, specific &amp; relative humidity, solar radiation, min/max temperature, wind speed, vapour pressure deficit, evapotranspiration, fuel moisture, ERC, burning index.</a:t>
            </a:r>
            <a:endParaRPr lang="en-US" sz="1150" dirty="0"/>
          </a:p>
        </p:txBody>
      </p:sp>
      <p:sp>
        <p:nvSpPr>
          <p:cNvPr id="33" name="Text 2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Ignition Risk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Where do wildfires happen?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page 1 — every observation on the map, plus wildfire density and wildfire rate by state</a:t>
            </a:r>
            <a:endParaRPr lang="en-US" sz="1500" dirty="0"/>
          </a:p>
        </p:txBody>
      </p:sp>
      <p:pic>
        <p:nvPicPr>
          <p:cNvPr id="4" name="Image 0" descr="img/dash_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86" y="1554480"/>
            <a:ext cx="4208069" cy="4754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35040" y="16002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the page shows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035040" y="2148840"/>
            <a:ext cx="5577840" cy="118872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217920" y="2423160"/>
            <a:ext cx="640080" cy="640080"/>
          </a:xfrm>
          <a:prstGeom prst="ellipse">
            <a:avLst/>
          </a:prstGeom>
          <a:solidFill>
            <a:srgbClr val="1F3A63"/>
          </a:solidFill>
          <a:ln w="12700">
            <a:solidFill>
              <a:srgbClr val="1F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742" y="2595982"/>
            <a:ext cx="294437" cy="29443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40880" y="22585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 map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040880" y="262432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Orange = wildfire, blue = non-fire. Filters for year, region, season and state drive every chart on the page.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35040" y="3474720"/>
            <a:ext cx="5577840" cy="118872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217920" y="3749040"/>
            <a:ext cx="640080" cy="64008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742" y="3921862"/>
            <a:ext cx="294437" cy="29443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40880" y="35844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33,448 wildfires of 126,279 observations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395020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26.5% wildfire rate across the continental US, 2014–2025.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035040" y="4800600"/>
            <a:ext cx="5577840" cy="118872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217920" y="5074920"/>
            <a:ext cx="640080" cy="640080"/>
          </a:xfrm>
          <a:prstGeom prst="ellipse">
            <a:avLst/>
          </a:prstGeom>
          <a:solidFill>
            <a:srgbClr val="4E9A7A"/>
          </a:solidFill>
          <a:ln w="12700">
            <a:solidFill>
              <a:srgbClr val="4E9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0742" y="5247742"/>
            <a:ext cx="294437" cy="29443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40880" y="4910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Density &amp; rate by state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7040880" y="527608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Hexagons show where fires cluster; the choropleth shows wildfire rate from 1.9% up to 37.4% — California leads.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Ignition Risk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· How is the weather distributed?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Tableau page 2 — distribution of each weather variable for Today, 7, 14 and 30 days before the reference day</a:t>
            </a:r>
            <a:endParaRPr lang="en-US" sz="1500" dirty="0"/>
          </a:p>
        </p:txBody>
      </p:sp>
      <p:pic>
        <p:nvPicPr>
          <p:cNvPr id="4" name="Image 0" descr="img/dash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3069" y="1554480"/>
            <a:ext cx="4288902" cy="4754880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6035040" y="1600200"/>
            <a:ext cx="5577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to read it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6035040" y="2148840"/>
            <a:ext cx="5577840" cy="118872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6217920" y="2423160"/>
            <a:ext cx="640080" cy="640080"/>
          </a:xfrm>
          <a:prstGeom prst="ellipse">
            <a:avLst/>
          </a:prstGeom>
          <a:solidFill>
            <a:srgbClr val="1F3A63"/>
          </a:solidFill>
          <a:ln w="12700">
            <a:solidFill>
              <a:srgbClr val="1F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90742" y="2595982"/>
            <a:ext cx="294437" cy="294437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040880" y="225856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chart per weather variable</a:t>
            </a:r>
            <a:endParaRPr lang="en-US" sz="1450" dirty="0"/>
          </a:p>
        </p:txBody>
      </p:sp>
      <p:sp>
        <p:nvSpPr>
          <p:cNvPr id="10" name="Text 6"/>
          <p:cNvSpPr txBox="1"/>
          <p:nvPr/>
        </p:nvSpPr>
        <p:spPr>
          <a:xfrm>
            <a:off x="7040880" y="262432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Curves show the share of observations within each value range — a distribution, not a time series.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6035040" y="3474720"/>
            <a:ext cx="5577840" cy="118872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8"/>
          <p:cNvSpPr/>
          <p:nvPr/>
        </p:nvSpPr>
        <p:spPr>
          <a:xfrm>
            <a:off x="6217920" y="3749040"/>
            <a:ext cx="640080" cy="64008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0742" y="3921862"/>
            <a:ext cx="294437" cy="294437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7040880" y="35844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curves = four time windows</a:t>
            </a:r>
            <a:endParaRPr lang="en-US" sz="1450" dirty="0"/>
          </a:p>
        </p:txBody>
      </p:sp>
      <p:sp>
        <p:nvSpPr>
          <p:cNvPr id="15" name="Text 10"/>
          <p:cNvSpPr txBox="1"/>
          <p:nvPr/>
        </p:nvSpPr>
        <p:spPr>
          <a:xfrm>
            <a:off x="7040880" y="395020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navy is Today; blue, green and orange are the 7-, 14- and 30-day aggregates.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6035040" y="4800600"/>
            <a:ext cx="5577840" cy="1188720"/>
          </a:xfrm>
          <a:prstGeom prst="roundRect">
            <a:avLst>
              <a:gd name="adj" fmla="val 9231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2"/>
          <p:cNvSpPr/>
          <p:nvPr/>
        </p:nvSpPr>
        <p:spPr>
          <a:xfrm>
            <a:off x="6217920" y="5074920"/>
            <a:ext cx="640080" cy="640080"/>
          </a:xfrm>
          <a:prstGeom prst="ellipse">
            <a:avLst/>
          </a:prstGeom>
          <a:solidFill>
            <a:srgbClr val="4E9A7A"/>
          </a:solidFill>
          <a:ln w="12700">
            <a:solidFill>
              <a:srgbClr val="4E9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90742" y="5247742"/>
            <a:ext cx="294437" cy="294437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7040880" y="491032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vs. the long windows</a:t>
            </a:r>
            <a:endParaRPr lang="en-US" sz="1450" dirty="0"/>
          </a:p>
        </p:txBody>
      </p:sp>
      <p:sp>
        <p:nvSpPr>
          <p:cNvPr id="20" name="Text 14"/>
          <p:cNvSpPr txBox="1"/>
          <p:nvPr/>
        </p:nvSpPr>
        <p:spPr>
          <a:xfrm>
            <a:off x="7040880" y="5276088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curves are wider and shifted: e.g. minimum humidity today is spread out, while 30-day minimums are concentrated at low values.</a:t>
            </a:r>
            <a:endParaRPr lang="en-US" sz="1200" dirty="0"/>
          </a:p>
        </p:txBody>
      </p:sp>
      <p:sp>
        <p:nvSpPr>
          <p:cNvPr id="23" name="Text 17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Ignition Risk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0"/>
            <a:ext cx="1097280" cy="109728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6" y="2582266"/>
            <a:ext cx="504749" cy="50474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194560" y="2240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2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2194560" y="2697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the model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3657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 ·  Performance  ·  Thresholds  ·  Limitations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Ignition Risk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Machine-learning training pipeline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steps from 40 candidate features to a tuned 14-feature XGBoost model</a:t>
            </a:r>
            <a:endParaRPr lang="en-US" sz="1500" dirty="0"/>
          </a:p>
        </p:txBody>
      </p:sp>
      <p:pic>
        <p:nvPicPr>
          <p:cNvPr id="4" name="Image 0" descr="img/pipelin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791688"/>
            <a:ext cx="11091672" cy="34575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669280"/>
            <a:ext cx="457200" cy="457200"/>
          </a:xfrm>
          <a:prstGeom prst="ellipse">
            <a:avLst/>
          </a:prstGeom>
          <a:solidFill>
            <a:srgbClr val="1F3A63"/>
          </a:solidFill>
          <a:ln w="12700">
            <a:solidFill>
              <a:srgbClr val="1F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084" y="5792724"/>
            <a:ext cx="210312" cy="210312"/>
          </a:xfrm>
          <a:prstGeom prst="rect">
            <a:avLst/>
          </a:prstGeom>
        </p:spPr>
      </p:pic>
      <p:sp>
        <p:nvSpPr>
          <p:cNvPr id="7" name="Text 3"/>
          <p:cNvSpPr txBox="1"/>
          <p:nvPr/>
        </p:nvSpPr>
        <p:spPr>
          <a:xfrm>
            <a:off x="1143000" y="5577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Spatial split by lat/lon — zero location overlap between train and test, so no spatial leakage.</a:t>
            </a:r>
            <a:endParaRPr lang="en-US" sz="1150" dirty="0"/>
          </a:p>
        </p:txBody>
      </p:sp>
      <p:sp>
        <p:nvSpPr>
          <p:cNvPr id="8" name="Shape 4"/>
          <p:cNvSpPr/>
          <p:nvPr/>
        </p:nvSpPr>
        <p:spPr>
          <a:xfrm>
            <a:off x="4297680" y="5669280"/>
            <a:ext cx="457200" cy="45720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21124" y="5792724"/>
            <a:ext cx="210312" cy="210312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4892040" y="5577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Permutation importance on a Random Forest baseline ranked the features; one best window per weather family.</a:t>
            </a:r>
            <a:endParaRPr lang="en-US" sz="1150" dirty="0"/>
          </a:p>
        </p:txBody>
      </p:sp>
      <p:sp>
        <p:nvSpPr>
          <p:cNvPr id="11" name="Shape 6"/>
          <p:cNvSpPr/>
          <p:nvPr/>
        </p:nvSpPr>
        <p:spPr>
          <a:xfrm>
            <a:off x="8046720" y="5669280"/>
            <a:ext cx="457200" cy="457200"/>
          </a:xfrm>
          <a:prstGeom prst="ellipse">
            <a:avLst/>
          </a:prstGeom>
          <a:solidFill>
            <a:srgbClr val="4E9A7A"/>
          </a:solidFill>
          <a:ln w="12700">
            <a:solidFill>
              <a:srgbClr val="4E9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70164" y="5792724"/>
            <a:ext cx="210312" cy="210312"/>
          </a:xfrm>
          <a:prstGeom prst="rect">
            <a:avLst/>
          </a:prstGeom>
        </p:spPr>
      </p:pic>
      <p:sp>
        <p:nvSpPr>
          <p:cNvPr id="13" name="Text 7"/>
          <p:cNvSpPr txBox="1"/>
          <p:nvPr/>
        </p:nvSpPr>
        <p:spPr>
          <a:xfrm>
            <a:off x="8641080" y="5577840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Out-of-fold re-check within the training set gave virtually identical results (69.3% vs 69.4%).</a:t>
            </a:r>
            <a:endParaRPr lang="en-US" sz="1150" dirty="0"/>
          </a:p>
        </p:txBody>
      </p:sp>
      <p:sp>
        <p:nvSpPr>
          <p:cNvPr id="15" name="Text 9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Ignition Risk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performance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Untouched spatial test set — 11,911 observations</a:t>
            </a:r>
            <a:endParaRPr lang="en-US" sz="1500" dirty="0"/>
          </a:p>
        </p:txBody>
      </p:sp>
      <p:pic>
        <p:nvPicPr>
          <p:cNvPr id="4" name="Image 0" descr="img/performance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291297"/>
            <a:ext cx="7589520" cy="3281245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8503920" y="1554480"/>
            <a:ext cx="3154680" cy="4754880"/>
          </a:xfrm>
          <a:prstGeom prst="roundRect">
            <a:avLst>
              <a:gd name="adj" fmla="val 3478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8778240" y="173736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model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8778240" y="2103120"/>
            <a:ext cx="2606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· 14 features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8686800" y="274320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F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69.4%</a:t>
            </a:r>
            <a:endParaRPr lang="en-US" sz="3600" dirty="0"/>
          </a:p>
        </p:txBody>
      </p:sp>
      <p:sp>
        <p:nvSpPr>
          <p:cNvPr id="9" name="Text 6"/>
          <p:cNvSpPr txBox="1"/>
          <p:nvPr/>
        </p:nvSpPr>
        <p:spPr>
          <a:xfrm>
            <a:off x="8686800" y="331012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accuracy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8686800" y="3931920"/>
            <a:ext cx="2788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79%</a:t>
            </a:r>
            <a:endParaRPr lang="en-US" sz="3600" dirty="0"/>
          </a:p>
        </p:txBody>
      </p:sp>
      <p:sp>
        <p:nvSpPr>
          <p:cNvPr id="11" name="Text 8"/>
          <p:cNvSpPr txBox="1"/>
          <p:nvPr/>
        </p:nvSpPr>
        <p:spPr>
          <a:xfrm>
            <a:off x="8686800" y="4498848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recall</a:t>
            </a:r>
            <a:endParaRPr lang="en-US" sz="1200" dirty="0"/>
          </a:p>
        </p:txBody>
      </p:sp>
      <p:sp>
        <p:nvSpPr>
          <p:cNvPr id="12" name="Text 9"/>
          <p:cNvSpPr txBox="1"/>
          <p:nvPr/>
        </p:nvSpPr>
        <p:spPr>
          <a:xfrm>
            <a:off x="8778240" y="5120640"/>
            <a:ext cx="26060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65% fewer inputs than the 40-feature benchmark, for ~2 points of accuracy. Simpler to explain, simpler to demo.</a:t>
            </a:r>
            <a:endParaRPr lang="en-US" sz="12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Ignition Risk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operating modes: balanced vs. high sensitivity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model, different classification threshold — evaluated on the test set</a:t>
            </a:r>
            <a:endParaRPr lang="en-US" sz="1500" dirty="0"/>
          </a:p>
        </p:txBody>
      </p:sp>
      <p:pic>
        <p:nvPicPr>
          <p:cNvPr id="4" name="Image 0" descr="img/confusion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57065" y="1508760"/>
            <a:ext cx="8674821" cy="37947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548640" y="5440680"/>
            <a:ext cx="3593592" cy="868680"/>
          </a:xfrm>
          <a:prstGeom prst="roundRect">
            <a:avLst>
              <a:gd name="adj" fmla="val 12632"/>
            </a:avLst>
          </a:prstGeom>
          <a:solidFill>
            <a:srgbClr val="EAF0F8"/>
          </a:solidFill>
          <a:ln w="12700">
            <a:solidFill>
              <a:srgbClr val="EAF0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 txBox="1"/>
          <p:nvPr/>
        </p:nvSpPr>
        <p:spPr>
          <a:xfrm>
            <a:off x="685800" y="55321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F3A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</a:t>
            </a:r>
            <a:endParaRPr lang="en-US" sz="2400" dirty="0"/>
          </a:p>
        </p:txBody>
      </p:sp>
      <p:sp>
        <p:nvSpPr>
          <p:cNvPr id="7" name="Text 4"/>
          <p:cNvSpPr txBox="1"/>
          <p:nvPr/>
        </p:nvSpPr>
        <p:spPr>
          <a:xfrm>
            <a:off x="1783080" y="551383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mode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1783080" y="582472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5,062 wildfires detected · 1,360 missed · 2,285 false alarms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4297680" y="5440680"/>
            <a:ext cx="359359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 txBox="1"/>
          <p:nvPr/>
        </p:nvSpPr>
        <p:spPr>
          <a:xfrm>
            <a:off x="4434840" y="55321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70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0.35</a:t>
            </a:r>
            <a:endParaRPr lang="en-US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5532120" y="551383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High-sensitivity mode</a:t>
            </a:r>
            <a:endParaRPr lang="en-US" sz="1300" dirty="0"/>
          </a:p>
        </p:txBody>
      </p:sp>
      <p:sp>
        <p:nvSpPr>
          <p:cNvPr id="12" name="Text 9"/>
          <p:cNvSpPr txBox="1"/>
          <p:nvPr/>
        </p:nvSpPr>
        <p:spPr>
          <a:xfrm>
            <a:off x="5532120" y="582472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5,922 detected · only 500 missed · but 3,454 false alarms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8046720" y="5440680"/>
            <a:ext cx="3593592" cy="868680"/>
          </a:xfrm>
          <a:prstGeom prst="roundRect">
            <a:avLst>
              <a:gd name="adj" fmla="val 12632"/>
            </a:avLst>
          </a:prstGeom>
          <a:solidFill>
            <a:srgbClr val="E4F3EA"/>
          </a:solidFill>
          <a:ln w="12700">
            <a:solidFill>
              <a:srgbClr val="E4F3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 txBox="1"/>
          <p:nvPr/>
        </p:nvSpPr>
        <p:spPr>
          <a:xfrm>
            <a:off x="8183880" y="5532120"/>
            <a:ext cx="1097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−63%</a:t>
            </a:r>
            <a:endParaRPr lang="en-US" sz="2400" dirty="0"/>
          </a:p>
        </p:txBody>
      </p:sp>
      <p:sp>
        <p:nvSpPr>
          <p:cNvPr id="15" name="Text 12"/>
          <p:cNvSpPr txBox="1"/>
          <p:nvPr/>
        </p:nvSpPr>
        <p:spPr>
          <a:xfrm>
            <a:off x="9281160" y="5513832"/>
            <a:ext cx="222199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wildfires</a:t>
            </a:r>
            <a:endParaRPr lang="en-US" sz="1300" dirty="0"/>
          </a:p>
        </p:txBody>
      </p:sp>
      <p:sp>
        <p:nvSpPr>
          <p:cNvPr id="16" name="Text 13"/>
          <p:cNvSpPr txBox="1"/>
          <p:nvPr/>
        </p:nvSpPr>
        <p:spPr>
          <a:xfrm>
            <a:off x="9281160" y="5824728"/>
            <a:ext cx="22219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threshold catches more fires at the cost of more false positives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Ignition Risk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limitations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experimental predictive model — not an operational wildfire warning system</a:t>
            </a:r>
            <a:endParaRPr lang="en-US" sz="1500" dirty="0"/>
          </a:p>
        </p:txBody>
      </p:sp>
      <p:pic>
        <p:nvPicPr>
          <p:cNvPr id="4" name="Image 0" descr="img/limitations_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6984" y="1508760"/>
            <a:ext cx="8514984" cy="4846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Ignition Risk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31520" y="2286000"/>
            <a:ext cx="1097280" cy="109728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7786" y="2582266"/>
            <a:ext cx="504749" cy="504749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2194560" y="224028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3</a:t>
            </a:r>
            <a:endParaRPr lang="en-US" sz="1800" dirty="0"/>
          </a:p>
        </p:txBody>
      </p:sp>
      <p:sp>
        <p:nvSpPr>
          <p:cNvPr id="5" name="Text 2"/>
          <p:cNvSpPr txBox="1"/>
          <p:nvPr/>
        </p:nvSpPr>
        <p:spPr>
          <a:xfrm>
            <a:off x="2194560" y="2697480"/>
            <a:ext cx="9144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2194560" y="3657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14 weather inputs to a wildfire probability — and the reasons behind it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Ignition Risk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demo works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Jupyter interface (ipywidgets) wrapping the final XGBoost model, its thresholds and a SHAP explainer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2011680"/>
            <a:ext cx="731520" cy="731520"/>
          </a:xfrm>
          <a:prstGeom prst="ellipse">
            <a:avLst/>
          </a:prstGeom>
          <a:solidFill>
            <a:srgbClr val="1F3A63"/>
          </a:solidFill>
          <a:ln w="12700">
            <a:solidFill>
              <a:srgbClr val="1F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470" y="2209190"/>
            <a:ext cx="336499" cy="33649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2286000" y="20116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4000" dirty="0"/>
          </a:p>
        </p:txBody>
      </p:sp>
      <p:sp>
        <p:nvSpPr>
          <p:cNvPr id="8" name="Text 5"/>
          <p:cNvSpPr txBox="1"/>
          <p:nvPr/>
        </p:nvSpPr>
        <p:spPr>
          <a:xfrm>
            <a:off x="82296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 14 conditions</a:t>
            </a:r>
            <a:endParaRPr lang="en-US" sz="1700" dirty="0"/>
          </a:p>
        </p:txBody>
      </p:sp>
      <p:sp>
        <p:nvSpPr>
          <p:cNvPr id="9" name="Text 6"/>
          <p:cNvSpPr txBox="1"/>
          <p:nvPr/>
        </p:nvSpPr>
        <p:spPr>
          <a:xfrm>
            <a:off x="822960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historical aggregates (7/14/30-day) + 4 same-day values. Each card shows unit, meaning and valid range.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83280" y="173736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Shape 8"/>
          <p:cNvSpPr/>
          <p:nvPr/>
        </p:nvSpPr>
        <p:spPr>
          <a:xfrm>
            <a:off x="3657600" y="2011680"/>
            <a:ext cx="731520" cy="731520"/>
          </a:xfrm>
          <a:prstGeom prst="ellipse">
            <a:avLst/>
          </a:prstGeom>
          <a:solidFill>
            <a:srgbClr val="4E9A7A"/>
          </a:solidFill>
          <a:ln w="12700">
            <a:solidFill>
              <a:srgbClr val="4E9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5110" y="2209190"/>
            <a:ext cx="336499" cy="33649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5120640" y="20116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4000" dirty="0"/>
          </a:p>
        </p:txBody>
      </p:sp>
      <p:sp>
        <p:nvSpPr>
          <p:cNvPr id="14" name="Text 10"/>
          <p:cNvSpPr txBox="1"/>
          <p:nvPr/>
        </p:nvSpPr>
        <p:spPr>
          <a:xfrm>
            <a:off x="365760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load a preset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3657600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controlled scenarios: 🌳 Low-risk (wet, cool, calm) and 🔥 High-risk (dry, hot, windy).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217920" y="173736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3"/>
          <p:cNvSpPr/>
          <p:nvPr/>
        </p:nvSpPr>
        <p:spPr>
          <a:xfrm>
            <a:off x="6492240" y="2011680"/>
            <a:ext cx="731520" cy="73152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89750" y="2209190"/>
            <a:ext cx="336499" cy="336499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7955280" y="20116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4000" dirty="0"/>
          </a:p>
        </p:txBody>
      </p:sp>
      <p:sp>
        <p:nvSpPr>
          <p:cNvPr id="20" name="Text 15"/>
          <p:cNvSpPr txBox="1"/>
          <p:nvPr/>
        </p:nvSpPr>
        <p:spPr>
          <a:xfrm>
            <a:off x="649224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mode</a:t>
            </a:r>
            <a:endParaRPr lang="en-US" sz="1700" dirty="0"/>
          </a:p>
        </p:txBody>
      </p:sp>
      <p:sp>
        <p:nvSpPr>
          <p:cNvPr id="21" name="Text 16"/>
          <p:cNvSpPr txBox="1"/>
          <p:nvPr/>
        </p:nvSpPr>
        <p:spPr>
          <a:xfrm>
            <a:off x="6492240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Balanced (threshold 0.50) or High-sensitivity (0.35) — the same trade-off we just saw.</a:t>
            </a:r>
            <a:endParaRPr lang="en-US" sz="1250" dirty="0"/>
          </a:p>
        </p:txBody>
      </p:sp>
      <p:sp>
        <p:nvSpPr>
          <p:cNvPr id="22" name="Shape 17"/>
          <p:cNvSpPr/>
          <p:nvPr/>
        </p:nvSpPr>
        <p:spPr>
          <a:xfrm>
            <a:off x="9052560" y="1737360"/>
            <a:ext cx="2651760" cy="384048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blurRad="762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18"/>
          <p:cNvSpPr/>
          <p:nvPr/>
        </p:nvSpPr>
        <p:spPr>
          <a:xfrm>
            <a:off x="9326880" y="2011680"/>
            <a:ext cx="731520" cy="731520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524390" y="2209190"/>
            <a:ext cx="336499" cy="336499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0789920" y="2011680"/>
            <a:ext cx="640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4000" b="1" dirty="0">
                <a:solidFill>
                  <a:srgbClr val="DDE3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4000" dirty="0"/>
          </a:p>
        </p:txBody>
      </p:sp>
      <p:sp>
        <p:nvSpPr>
          <p:cNvPr id="26" name="Text 20"/>
          <p:cNvSpPr txBox="1"/>
          <p:nvPr/>
        </p:nvSpPr>
        <p:spPr>
          <a:xfrm>
            <a:off x="9326880" y="2971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result</a:t>
            </a:r>
            <a:endParaRPr lang="en-US" sz="1700" dirty="0"/>
          </a:p>
        </p:txBody>
      </p:sp>
      <p:sp>
        <p:nvSpPr>
          <p:cNvPr id="27" name="Text 21"/>
          <p:cNvSpPr txBox="1"/>
          <p:nvPr/>
        </p:nvSpPr>
        <p:spPr>
          <a:xfrm>
            <a:off x="9326880" y="3657600"/>
            <a:ext cx="2103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1B2A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probability, the class decision, and the Top-5 SHAP contributors with their direction.</a:t>
            </a:r>
            <a:endParaRPr lang="en-US" sz="1250" dirty="0"/>
          </a:p>
        </p:txBody>
      </p:sp>
      <p:sp>
        <p:nvSpPr>
          <p:cNvPr id="28" name="Text 22"/>
          <p:cNvSpPr txBox="1"/>
          <p:nvPr/>
        </p:nvSpPr>
        <p:spPr>
          <a:xfrm>
            <a:off x="548640" y="58064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hood: xgb_reduced_final.pkl  ·  feature_metadata.json  ·  shap.TreeExplainer  — same prediction logic also available as a terminal app</a:t>
            </a:r>
            <a:endParaRPr lang="en-US" sz="1150" dirty="0"/>
          </a:p>
        </p:txBody>
      </p:sp>
      <p:sp>
        <p:nvSpPr>
          <p:cNvPr id="30" name="Text 24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Ignition Risk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14 inputs the model needs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5156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best-performing time window per weather family, plus four same-day readings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440680" cy="566928"/>
          </a:xfrm>
          <a:prstGeom prst="roundRect">
            <a:avLst>
              <a:gd name="adj" fmla="val 193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658368" y="1700784"/>
            <a:ext cx="365760" cy="365760"/>
          </a:xfrm>
          <a:prstGeom prst="ellipse">
            <a:avLst/>
          </a:prstGeom>
          <a:solidFill>
            <a:srgbClr val="1F3A63"/>
          </a:solidFill>
          <a:ln w="12700">
            <a:solidFill>
              <a:srgbClr val="1F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" y="1799539"/>
            <a:ext cx="168250" cy="16825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4300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Precipitation</a:t>
            </a:r>
            <a:endParaRPr lang="en-US" sz="1300" dirty="0"/>
          </a:p>
        </p:txBody>
      </p:sp>
      <p:sp>
        <p:nvSpPr>
          <p:cNvPr id="8" name="Text 5"/>
          <p:cNvSpPr txBox="1"/>
          <p:nvPr/>
        </p:nvSpPr>
        <p:spPr>
          <a:xfrm>
            <a:off x="3520440" y="16002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avg</a:t>
            </a:r>
            <a:endParaRPr lang="en-US" sz="1200" dirty="0"/>
          </a:p>
        </p:txBody>
      </p:sp>
      <p:sp>
        <p:nvSpPr>
          <p:cNvPr id="9" name="Text 6"/>
          <p:cNvSpPr txBox="1"/>
          <p:nvPr/>
        </p:nvSpPr>
        <p:spPr>
          <a:xfrm>
            <a:off x="4800600" y="16002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mm/day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5532120" y="1600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6172200" y="1600200"/>
            <a:ext cx="5440680" cy="566928"/>
          </a:xfrm>
          <a:prstGeom prst="roundRect">
            <a:avLst>
              <a:gd name="adj" fmla="val 193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281928" y="1700784"/>
            <a:ext cx="365760" cy="365760"/>
          </a:xfrm>
          <a:prstGeom prst="ellipse">
            <a:avLst/>
          </a:prstGeom>
          <a:solidFill>
            <a:srgbClr val="1F3A63"/>
          </a:solidFill>
          <a:ln w="12700">
            <a:solidFill>
              <a:srgbClr val="1F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683" y="1799539"/>
            <a:ext cx="168250" cy="16825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6766560" y="16002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humidity</a:t>
            </a:r>
            <a:endParaRPr lang="en-US" sz="1300" dirty="0"/>
          </a:p>
        </p:txBody>
      </p:sp>
      <p:sp>
        <p:nvSpPr>
          <p:cNvPr id="15" name="Text 11"/>
          <p:cNvSpPr txBox="1"/>
          <p:nvPr/>
        </p:nvSpPr>
        <p:spPr>
          <a:xfrm>
            <a:off x="9144000" y="16002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median</a:t>
            </a:r>
            <a:endParaRPr lang="en-US" sz="1200" dirty="0"/>
          </a:p>
        </p:txBody>
      </p:sp>
      <p:sp>
        <p:nvSpPr>
          <p:cNvPr id="16" name="Text 12"/>
          <p:cNvSpPr txBox="1"/>
          <p:nvPr/>
        </p:nvSpPr>
        <p:spPr>
          <a:xfrm>
            <a:off x="10424160" y="16002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kg/kg</a:t>
            </a:r>
            <a:endParaRPr lang="en-US" sz="1100" dirty="0"/>
          </a:p>
        </p:txBody>
      </p:sp>
      <p:sp>
        <p:nvSpPr>
          <p:cNvPr id="17" name="Text 13"/>
          <p:cNvSpPr txBox="1"/>
          <p:nvPr/>
        </p:nvSpPr>
        <p:spPr>
          <a:xfrm>
            <a:off x="11155680" y="16002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18" name="Shape 14"/>
          <p:cNvSpPr/>
          <p:nvPr/>
        </p:nvSpPr>
        <p:spPr>
          <a:xfrm>
            <a:off x="548640" y="2240280"/>
            <a:ext cx="5440680" cy="566928"/>
          </a:xfrm>
          <a:prstGeom prst="roundRect">
            <a:avLst>
              <a:gd name="adj" fmla="val 193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5"/>
          <p:cNvSpPr/>
          <p:nvPr/>
        </p:nvSpPr>
        <p:spPr>
          <a:xfrm>
            <a:off x="658368" y="2340864"/>
            <a:ext cx="365760" cy="365760"/>
          </a:xfrm>
          <a:prstGeom prst="ellipse">
            <a:avLst/>
          </a:prstGeom>
          <a:solidFill>
            <a:srgbClr val="1F3A63"/>
          </a:solidFill>
          <a:ln w="12700">
            <a:solidFill>
              <a:srgbClr val="1F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123" y="2439619"/>
            <a:ext cx="168250" cy="16825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1143000" y="22402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relative humidity</a:t>
            </a:r>
            <a:endParaRPr lang="en-US" sz="1300" dirty="0"/>
          </a:p>
        </p:txBody>
      </p:sp>
      <p:sp>
        <p:nvSpPr>
          <p:cNvPr id="22" name="Text 17"/>
          <p:cNvSpPr txBox="1"/>
          <p:nvPr/>
        </p:nvSpPr>
        <p:spPr>
          <a:xfrm>
            <a:off x="3520440" y="22402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min</a:t>
            </a:r>
            <a:endParaRPr lang="en-US" sz="1200" dirty="0"/>
          </a:p>
        </p:txBody>
      </p:sp>
      <p:sp>
        <p:nvSpPr>
          <p:cNvPr id="23" name="Text 18"/>
          <p:cNvSpPr txBox="1"/>
          <p:nvPr/>
        </p:nvSpPr>
        <p:spPr>
          <a:xfrm>
            <a:off x="4800600" y="22402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24" name="Text 19"/>
          <p:cNvSpPr txBox="1"/>
          <p:nvPr/>
        </p:nvSpPr>
        <p:spPr>
          <a:xfrm>
            <a:off x="5532120" y="224028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25" name="Shape 20"/>
          <p:cNvSpPr/>
          <p:nvPr/>
        </p:nvSpPr>
        <p:spPr>
          <a:xfrm>
            <a:off x="6172200" y="2240280"/>
            <a:ext cx="5440680" cy="566928"/>
          </a:xfrm>
          <a:prstGeom prst="roundRect">
            <a:avLst>
              <a:gd name="adj" fmla="val 193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1"/>
          <p:cNvSpPr/>
          <p:nvPr/>
        </p:nvSpPr>
        <p:spPr>
          <a:xfrm>
            <a:off x="6281928" y="2340864"/>
            <a:ext cx="365760" cy="365760"/>
          </a:xfrm>
          <a:prstGeom prst="ellipse">
            <a:avLst/>
          </a:prstGeom>
          <a:solidFill>
            <a:srgbClr val="1F3A63"/>
          </a:solidFill>
          <a:ln w="12700">
            <a:solidFill>
              <a:srgbClr val="1F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683" y="2439619"/>
            <a:ext cx="168250" cy="16825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6766560" y="22402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relative humidity</a:t>
            </a:r>
            <a:endParaRPr lang="en-US" sz="1300" dirty="0"/>
          </a:p>
        </p:txBody>
      </p:sp>
      <p:sp>
        <p:nvSpPr>
          <p:cNvPr id="29" name="Text 23"/>
          <p:cNvSpPr txBox="1"/>
          <p:nvPr/>
        </p:nvSpPr>
        <p:spPr>
          <a:xfrm>
            <a:off x="9144000" y="22402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max</a:t>
            </a:r>
            <a:endParaRPr lang="en-US" sz="1200" dirty="0"/>
          </a:p>
        </p:txBody>
      </p:sp>
      <p:sp>
        <p:nvSpPr>
          <p:cNvPr id="30" name="Text 24"/>
          <p:cNvSpPr txBox="1"/>
          <p:nvPr/>
        </p:nvSpPr>
        <p:spPr>
          <a:xfrm>
            <a:off x="10424160" y="22402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31" name="Text 25"/>
          <p:cNvSpPr txBox="1"/>
          <p:nvPr/>
        </p:nvSpPr>
        <p:spPr>
          <a:xfrm>
            <a:off x="11155680" y="224028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32" name="Shape 26"/>
          <p:cNvSpPr/>
          <p:nvPr/>
        </p:nvSpPr>
        <p:spPr>
          <a:xfrm>
            <a:off x="548640" y="2880360"/>
            <a:ext cx="5440680" cy="566928"/>
          </a:xfrm>
          <a:prstGeom prst="roundRect">
            <a:avLst>
              <a:gd name="adj" fmla="val 193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Shape 27"/>
          <p:cNvSpPr/>
          <p:nvPr/>
        </p:nvSpPr>
        <p:spPr>
          <a:xfrm>
            <a:off x="658368" y="2980944"/>
            <a:ext cx="365760" cy="36576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4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" y="3079699"/>
            <a:ext cx="168250" cy="168250"/>
          </a:xfrm>
          <a:prstGeom prst="rect">
            <a:avLst/>
          </a:prstGeom>
        </p:spPr>
      </p:pic>
      <p:sp>
        <p:nvSpPr>
          <p:cNvPr id="35" name="Text 28"/>
          <p:cNvSpPr txBox="1"/>
          <p:nvPr/>
        </p:nvSpPr>
        <p:spPr>
          <a:xfrm>
            <a:off x="1143000" y="28803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radiation</a:t>
            </a:r>
            <a:endParaRPr lang="en-US" sz="1300" dirty="0"/>
          </a:p>
        </p:txBody>
      </p:sp>
      <p:sp>
        <p:nvSpPr>
          <p:cNvPr id="36" name="Text 29"/>
          <p:cNvSpPr txBox="1"/>
          <p:nvPr/>
        </p:nvSpPr>
        <p:spPr>
          <a:xfrm>
            <a:off x="3520440" y="28803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7-day median</a:t>
            </a:r>
            <a:endParaRPr lang="en-US" sz="1200" dirty="0"/>
          </a:p>
        </p:txBody>
      </p:sp>
      <p:sp>
        <p:nvSpPr>
          <p:cNvPr id="37" name="Text 30"/>
          <p:cNvSpPr txBox="1"/>
          <p:nvPr/>
        </p:nvSpPr>
        <p:spPr>
          <a:xfrm>
            <a:off x="4800600" y="288036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W/m²</a:t>
            </a:r>
            <a:endParaRPr lang="en-US" sz="1100" dirty="0"/>
          </a:p>
        </p:txBody>
      </p:sp>
      <p:sp>
        <p:nvSpPr>
          <p:cNvPr id="38" name="Text 31"/>
          <p:cNvSpPr txBox="1"/>
          <p:nvPr/>
        </p:nvSpPr>
        <p:spPr>
          <a:xfrm>
            <a:off x="5532120" y="288036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39" name="Shape 32"/>
          <p:cNvSpPr/>
          <p:nvPr/>
        </p:nvSpPr>
        <p:spPr>
          <a:xfrm>
            <a:off x="6172200" y="2880360"/>
            <a:ext cx="5440680" cy="566928"/>
          </a:xfrm>
          <a:prstGeom prst="roundRect">
            <a:avLst>
              <a:gd name="adj" fmla="val 193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Shape 33"/>
          <p:cNvSpPr/>
          <p:nvPr/>
        </p:nvSpPr>
        <p:spPr>
          <a:xfrm>
            <a:off x="6281928" y="2980944"/>
            <a:ext cx="365760" cy="36576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1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80683" y="3079699"/>
            <a:ext cx="168250" cy="168250"/>
          </a:xfrm>
          <a:prstGeom prst="rect">
            <a:avLst/>
          </a:prstGeom>
        </p:spPr>
      </p:pic>
      <p:sp>
        <p:nvSpPr>
          <p:cNvPr id="42" name="Text 34"/>
          <p:cNvSpPr txBox="1"/>
          <p:nvPr/>
        </p:nvSpPr>
        <p:spPr>
          <a:xfrm>
            <a:off x="6766560" y="288036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daily temperature</a:t>
            </a:r>
            <a:endParaRPr lang="en-US" sz="1300" dirty="0"/>
          </a:p>
        </p:txBody>
      </p:sp>
      <p:sp>
        <p:nvSpPr>
          <p:cNvPr id="43" name="Text 35"/>
          <p:cNvSpPr txBox="1"/>
          <p:nvPr/>
        </p:nvSpPr>
        <p:spPr>
          <a:xfrm>
            <a:off x="9144000" y="288036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14-day min</a:t>
            </a:r>
            <a:endParaRPr lang="en-US" sz="1200" dirty="0"/>
          </a:p>
        </p:txBody>
      </p:sp>
      <p:sp>
        <p:nvSpPr>
          <p:cNvPr id="44" name="Text 36"/>
          <p:cNvSpPr txBox="1"/>
          <p:nvPr/>
        </p:nvSpPr>
        <p:spPr>
          <a:xfrm>
            <a:off x="10424160" y="288036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</a:t>
            </a:r>
            <a:endParaRPr lang="en-US" sz="1100" dirty="0"/>
          </a:p>
        </p:txBody>
      </p:sp>
      <p:sp>
        <p:nvSpPr>
          <p:cNvPr id="45" name="Text 37"/>
          <p:cNvSpPr txBox="1"/>
          <p:nvPr/>
        </p:nvSpPr>
        <p:spPr>
          <a:xfrm>
            <a:off x="11155680" y="288036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46" name="Shape 38"/>
          <p:cNvSpPr/>
          <p:nvPr/>
        </p:nvSpPr>
        <p:spPr>
          <a:xfrm>
            <a:off x="548640" y="3520440"/>
            <a:ext cx="5440680" cy="566928"/>
          </a:xfrm>
          <a:prstGeom prst="roundRect">
            <a:avLst>
              <a:gd name="adj" fmla="val 193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39"/>
          <p:cNvSpPr/>
          <p:nvPr/>
        </p:nvSpPr>
        <p:spPr>
          <a:xfrm>
            <a:off x="658368" y="3621024"/>
            <a:ext cx="365760" cy="36576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7123" y="3719779"/>
            <a:ext cx="168250" cy="168250"/>
          </a:xfrm>
          <a:prstGeom prst="rect">
            <a:avLst/>
          </a:prstGeom>
        </p:spPr>
      </p:pic>
      <p:sp>
        <p:nvSpPr>
          <p:cNvPr id="49" name="Text 40"/>
          <p:cNvSpPr txBox="1"/>
          <p:nvPr/>
        </p:nvSpPr>
        <p:spPr>
          <a:xfrm>
            <a:off x="1143000" y="35204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daily temperature</a:t>
            </a:r>
            <a:endParaRPr lang="en-US" sz="1300" dirty="0"/>
          </a:p>
        </p:txBody>
      </p:sp>
      <p:sp>
        <p:nvSpPr>
          <p:cNvPr id="50" name="Text 41"/>
          <p:cNvSpPr txBox="1"/>
          <p:nvPr/>
        </p:nvSpPr>
        <p:spPr>
          <a:xfrm>
            <a:off x="3520440" y="35204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max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4800600" y="35204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°C</a:t>
            </a:r>
            <a:endParaRPr lang="en-US" sz="1100" dirty="0"/>
          </a:p>
        </p:txBody>
      </p:sp>
      <p:sp>
        <p:nvSpPr>
          <p:cNvPr id="52" name="Text 43"/>
          <p:cNvSpPr txBox="1"/>
          <p:nvPr/>
        </p:nvSpPr>
        <p:spPr>
          <a:xfrm>
            <a:off x="5532120" y="35204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53" name="Shape 44"/>
          <p:cNvSpPr/>
          <p:nvPr/>
        </p:nvSpPr>
        <p:spPr>
          <a:xfrm>
            <a:off x="6172200" y="3520440"/>
            <a:ext cx="5440680" cy="566928"/>
          </a:xfrm>
          <a:prstGeom prst="roundRect">
            <a:avLst>
              <a:gd name="adj" fmla="val 193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Shape 45"/>
          <p:cNvSpPr/>
          <p:nvPr/>
        </p:nvSpPr>
        <p:spPr>
          <a:xfrm>
            <a:off x="6281928" y="3621024"/>
            <a:ext cx="365760" cy="365760"/>
          </a:xfrm>
          <a:prstGeom prst="ellipse">
            <a:avLst/>
          </a:prstGeom>
          <a:solidFill>
            <a:srgbClr val="4E9A7A"/>
          </a:solidFill>
          <a:ln w="12700">
            <a:solidFill>
              <a:srgbClr val="4E9A7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55" name="Image 7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0683" y="3719779"/>
            <a:ext cx="168250" cy="168250"/>
          </a:xfrm>
          <a:prstGeom prst="rect">
            <a:avLst/>
          </a:prstGeom>
        </p:spPr>
      </p:pic>
      <p:sp>
        <p:nvSpPr>
          <p:cNvPr id="56" name="Text 46"/>
          <p:cNvSpPr txBox="1"/>
          <p:nvPr/>
        </p:nvSpPr>
        <p:spPr>
          <a:xfrm>
            <a:off x="6766560" y="352044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</a:t>
            </a:r>
            <a:endParaRPr lang="en-US" sz="1300" dirty="0"/>
          </a:p>
        </p:txBody>
      </p:sp>
      <p:sp>
        <p:nvSpPr>
          <p:cNvPr id="57" name="Text 47"/>
          <p:cNvSpPr txBox="1"/>
          <p:nvPr/>
        </p:nvSpPr>
        <p:spPr>
          <a:xfrm>
            <a:off x="9144000" y="352044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median</a:t>
            </a:r>
            <a:endParaRPr lang="en-US" sz="1200" dirty="0"/>
          </a:p>
        </p:txBody>
      </p:sp>
      <p:sp>
        <p:nvSpPr>
          <p:cNvPr id="58" name="Text 48"/>
          <p:cNvSpPr txBox="1"/>
          <p:nvPr/>
        </p:nvSpPr>
        <p:spPr>
          <a:xfrm>
            <a:off x="10424160" y="352044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</a:t>
            </a:r>
            <a:endParaRPr lang="en-US" sz="1100" dirty="0"/>
          </a:p>
        </p:txBody>
      </p:sp>
      <p:sp>
        <p:nvSpPr>
          <p:cNvPr id="59" name="Text 49"/>
          <p:cNvSpPr txBox="1"/>
          <p:nvPr/>
        </p:nvSpPr>
        <p:spPr>
          <a:xfrm>
            <a:off x="11155680" y="35204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60" name="Shape 50"/>
          <p:cNvSpPr/>
          <p:nvPr/>
        </p:nvSpPr>
        <p:spPr>
          <a:xfrm>
            <a:off x="548640" y="4160520"/>
            <a:ext cx="5440680" cy="566928"/>
          </a:xfrm>
          <a:prstGeom prst="roundRect">
            <a:avLst>
              <a:gd name="adj" fmla="val 193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1" name="Shape 51"/>
          <p:cNvSpPr/>
          <p:nvPr/>
        </p:nvSpPr>
        <p:spPr>
          <a:xfrm>
            <a:off x="658368" y="4261104"/>
            <a:ext cx="365760" cy="36576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2" name="Image 8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23" y="4359859"/>
            <a:ext cx="168250" cy="168250"/>
          </a:xfrm>
          <a:prstGeom prst="rect">
            <a:avLst/>
          </a:prstGeom>
        </p:spPr>
      </p:pic>
      <p:sp>
        <p:nvSpPr>
          <p:cNvPr id="63" name="Text 52"/>
          <p:cNvSpPr txBox="1"/>
          <p:nvPr/>
        </p:nvSpPr>
        <p:spPr>
          <a:xfrm>
            <a:off x="1143000" y="4160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 pressure deficit</a:t>
            </a:r>
            <a:endParaRPr lang="en-US" sz="1300" dirty="0"/>
          </a:p>
        </p:txBody>
      </p:sp>
      <p:sp>
        <p:nvSpPr>
          <p:cNvPr id="64" name="Text 53"/>
          <p:cNvSpPr txBox="1"/>
          <p:nvPr/>
        </p:nvSpPr>
        <p:spPr>
          <a:xfrm>
            <a:off x="3520440" y="41605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median</a:t>
            </a:r>
            <a:endParaRPr lang="en-US" sz="1200" dirty="0"/>
          </a:p>
        </p:txBody>
      </p:sp>
      <p:sp>
        <p:nvSpPr>
          <p:cNvPr id="65" name="Text 54"/>
          <p:cNvSpPr txBox="1"/>
          <p:nvPr/>
        </p:nvSpPr>
        <p:spPr>
          <a:xfrm>
            <a:off x="4800600" y="416052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kPa</a:t>
            </a:r>
            <a:endParaRPr lang="en-US" sz="1100" dirty="0"/>
          </a:p>
        </p:txBody>
      </p:sp>
      <p:sp>
        <p:nvSpPr>
          <p:cNvPr id="66" name="Text 55"/>
          <p:cNvSpPr txBox="1"/>
          <p:nvPr/>
        </p:nvSpPr>
        <p:spPr>
          <a:xfrm>
            <a:off x="5532120" y="41605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67" name="Shape 56"/>
          <p:cNvSpPr/>
          <p:nvPr/>
        </p:nvSpPr>
        <p:spPr>
          <a:xfrm>
            <a:off x="6172200" y="4160520"/>
            <a:ext cx="5440680" cy="566928"/>
          </a:xfrm>
          <a:prstGeom prst="roundRect">
            <a:avLst>
              <a:gd name="adj" fmla="val 193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57"/>
          <p:cNvSpPr/>
          <p:nvPr/>
        </p:nvSpPr>
        <p:spPr>
          <a:xfrm>
            <a:off x="6281928" y="4261104"/>
            <a:ext cx="365760" cy="365760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9" name="Image 9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80683" y="4359859"/>
            <a:ext cx="168250" cy="168250"/>
          </a:xfrm>
          <a:prstGeom prst="rect">
            <a:avLst/>
          </a:prstGeom>
        </p:spPr>
      </p:pic>
      <p:sp>
        <p:nvSpPr>
          <p:cNvPr id="70" name="Text 58"/>
          <p:cNvSpPr txBox="1"/>
          <p:nvPr/>
        </p:nvSpPr>
        <p:spPr>
          <a:xfrm>
            <a:off x="6766560" y="416052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Potential evapotranspiration</a:t>
            </a:r>
            <a:endParaRPr lang="en-US" sz="1300" dirty="0"/>
          </a:p>
        </p:txBody>
      </p:sp>
      <p:sp>
        <p:nvSpPr>
          <p:cNvPr id="71" name="Text 59"/>
          <p:cNvSpPr txBox="1"/>
          <p:nvPr/>
        </p:nvSpPr>
        <p:spPr>
          <a:xfrm>
            <a:off x="9144000" y="416052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30-day median</a:t>
            </a:r>
            <a:endParaRPr lang="en-US" sz="1200" dirty="0"/>
          </a:p>
        </p:txBody>
      </p:sp>
      <p:sp>
        <p:nvSpPr>
          <p:cNvPr id="72" name="Text 60"/>
          <p:cNvSpPr txBox="1"/>
          <p:nvPr/>
        </p:nvSpPr>
        <p:spPr>
          <a:xfrm>
            <a:off x="10424160" y="416052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mm/day</a:t>
            </a:r>
            <a:endParaRPr lang="en-US" sz="1100" dirty="0"/>
          </a:p>
        </p:txBody>
      </p:sp>
      <p:sp>
        <p:nvSpPr>
          <p:cNvPr id="73" name="Text 61"/>
          <p:cNvSpPr txBox="1"/>
          <p:nvPr/>
        </p:nvSpPr>
        <p:spPr>
          <a:xfrm>
            <a:off x="11155680" y="416052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74" name="Shape 62"/>
          <p:cNvSpPr/>
          <p:nvPr/>
        </p:nvSpPr>
        <p:spPr>
          <a:xfrm>
            <a:off x="548640" y="4800600"/>
            <a:ext cx="5440680" cy="566928"/>
          </a:xfrm>
          <a:prstGeom prst="roundRect">
            <a:avLst>
              <a:gd name="adj" fmla="val 193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Shape 63"/>
          <p:cNvSpPr/>
          <p:nvPr/>
        </p:nvSpPr>
        <p:spPr>
          <a:xfrm>
            <a:off x="658368" y="4901184"/>
            <a:ext cx="365760" cy="3657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76" name="Image 10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7123" y="4999939"/>
            <a:ext cx="168250" cy="168250"/>
          </a:xfrm>
          <a:prstGeom prst="rect">
            <a:avLst/>
          </a:prstGeom>
        </p:spPr>
      </p:pic>
      <p:sp>
        <p:nvSpPr>
          <p:cNvPr id="77" name="Text 64"/>
          <p:cNvSpPr txBox="1"/>
          <p:nvPr/>
        </p:nvSpPr>
        <p:spPr>
          <a:xfrm>
            <a:off x="1143000" y="4800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Solar radiation</a:t>
            </a:r>
            <a:endParaRPr lang="en-US" sz="1300" dirty="0"/>
          </a:p>
        </p:txBody>
      </p:sp>
      <p:sp>
        <p:nvSpPr>
          <p:cNvPr id="78" name="Text 65"/>
          <p:cNvSpPr txBox="1"/>
          <p:nvPr/>
        </p:nvSpPr>
        <p:spPr>
          <a:xfrm>
            <a:off x="3520440" y="48006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79" name="Text 66"/>
          <p:cNvSpPr txBox="1"/>
          <p:nvPr/>
        </p:nvSpPr>
        <p:spPr>
          <a:xfrm>
            <a:off x="4800600" y="48006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W/m²</a:t>
            </a:r>
            <a:endParaRPr lang="en-US" sz="1100" dirty="0"/>
          </a:p>
        </p:txBody>
      </p:sp>
      <p:sp>
        <p:nvSpPr>
          <p:cNvPr id="80" name="Text 67"/>
          <p:cNvSpPr txBox="1"/>
          <p:nvPr/>
        </p:nvSpPr>
        <p:spPr>
          <a:xfrm>
            <a:off x="5532120" y="48006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81" name="Shape 68"/>
          <p:cNvSpPr/>
          <p:nvPr/>
        </p:nvSpPr>
        <p:spPr>
          <a:xfrm>
            <a:off x="6172200" y="4800600"/>
            <a:ext cx="5440680" cy="566928"/>
          </a:xfrm>
          <a:prstGeom prst="roundRect">
            <a:avLst>
              <a:gd name="adj" fmla="val 193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2" name="Shape 69"/>
          <p:cNvSpPr/>
          <p:nvPr/>
        </p:nvSpPr>
        <p:spPr>
          <a:xfrm>
            <a:off x="6281928" y="4901184"/>
            <a:ext cx="365760" cy="3657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3" name="Image 1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0683" y="4999939"/>
            <a:ext cx="168250" cy="168250"/>
          </a:xfrm>
          <a:prstGeom prst="rect">
            <a:avLst/>
          </a:prstGeom>
        </p:spPr>
      </p:pic>
      <p:sp>
        <p:nvSpPr>
          <p:cNvPr id="84" name="Text 70"/>
          <p:cNvSpPr txBox="1"/>
          <p:nvPr/>
        </p:nvSpPr>
        <p:spPr>
          <a:xfrm>
            <a:off x="6766560" y="480060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 relative humidity</a:t>
            </a:r>
            <a:endParaRPr lang="en-US" sz="1300" dirty="0"/>
          </a:p>
        </p:txBody>
      </p:sp>
      <p:sp>
        <p:nvSpPr>
          <p:cNvPr id="85" name="Text 71"/>
          <p:cNvSpPr txBox="1"/>
          <p:nvPr/>
        </p:nvSpPr>
        <p:spPr>
          <a:xfrm>
            <a:off x="9144000" y="480060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86" name="Text 72"/>
          <p:cNvSpPr txBox="1"/>
          <p:nvPr/>
        </p:nvSpPr>
        <p:spPr>
          <a:xfrm>
            <a:off x="10424160" y="480060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</a:t>
            </a:r>
            <a:endParaRPr lang="en-US" sz="1100" dirty="0"/>
          </a:p>
        </p:txBody>
      </p:sp>
      <p:sp>
        <p:nvSpPr>
          <p:cNvPr id="87" name="Text 73"/>
          <p:cNvSpPr txBox="1"/>
          <p:nvPr/>
        </p:nvSpPr>
        <p:spPr>
          <a:xfrm>
            <a:off x="11155680" y="480060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2E8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600" dirty="0"/>
          </a:p>
        </p:txBody>
      </p:sp>
      <p:sp>
        <p:nvSpPr>
          <p:cNvPr id="88" name="Shape 74"/>
          <p:cNvSpPr/>
          <p:nvPr/>
        </p:nvSpPr>
        <p:spPr>
          <a:xfrm>
            <a:off x="548640" y="5440680"/>
            <a:ext cx="5440680" cy="566928"/>
          </a:xfrm>
          <a:prstGeom prst="roundRect">
            <a:avLst>
              <a:gd name="adj" fmla="val 193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75"/>
          <p:cNvSpPr/>
          <p:nvPr/>
        </p:nvSpPr>
        <p:spPr>
          <a:xfrm>
            <a:off x="658368" y="5541264"/>
            <a:ext cx="365760" cy="3657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0" name="Image 12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57123" y="5640019"/>
            <a:ext cx="168250" cy="168250"/>
          </a:xfrm>
          <a:prstGeom prst="rect">
            <a:avLst/>
          </a:prstGeom>
        </p:spPr>
      </p:pic>
      <p:sp>
        <p:nvSpPr>
          <p:cNvPr id="91" name="Text 76"/>
          <p:cNvSpPr txBox="1"/>
          <p:nvPr/>
        </p:nvSpPr>
        <p:spPr>
          <a:xfrm>
            <a:off x="1143000" y="5440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Vapour pressure deficit</a:t>
            </a:r>
            <a:endParaRPr lang="en-US" sz="1300" dirty="0"/>
          </a:p>
        </p:txBody>
      </p:sp>
      <p:sp>
        <p:nvSpPr>
          <p:cNvPr id="92" name="Text 77"/>
          <p:cNvSpPr txBox="1"/>
          <p:nvPr/>
        </p:nvSpPr>
        <p:spPr>
          <a:xfrm>
            <a:off x="3520440" y="54406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93" name="Text 78"/>
          <p:cNvSpPr txBox="1"/>
          <p:nvPr/>
        </p:nvSpPr>
        <p:spPr>
          <a:xfrm>
            <a:off x="4800600" y="54406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kPa</a:t>
            </a:r>
            <a:endParaRPr lang="en-US" sz="1100" dirty="0"/>
          </a:p>
        </p:txBody>
      </p:sp>
      <p:sp>
        <p:nvSpPr>
          <p:cNvPr id="94" name="Text 79"/>
          <p:cNvSpPr txBox="1"/>
          <p:nvPr/>
        </p:nvSpPr>
        <p:spPr>
          <a:xfrm>
            <a:off x="5532120" y="544068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95" name="Shape 80"/>
          <p:cNvSpPr/>
          <p:nvPr/>
        </p:nvSpPr>
        <p:spPr>
          <a:xfrm>
            <a:off x="6172200" y="5440680"/>
            <a:ext cx="5440680" cy="566928"/>
          </a:xfrm>
          <a:prstGeom prst="roundRect">
            <a:avLst>
              <a:gd name="adj" fmla="val 19355"/>
            </a:avLst>
          </a:prstGeom>
          <a:solidFill>
            <a:srgbClr val="F4F6FA"/>
          </a:solidFill>
          <a:ln w="12700">
            <a:solidFill>
              <a:srgbClr val="F4F6F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6" name="Shape 81"/>
          <p:cNvSpPr/>
          <p:nvPr/>
        </p:nvSpPr>
        <p:spPr>
          <a:xfrm>
            <a:off x="6281928" y="5541264"/>
            <a:ext cx="365760" cy="365760"/>
          </a:xfrm>
          <a:prstGeom prst="ellipse">
            <a:avLst/>
          </a:prstGeom>
          <a:solidFill>
            <a:srgbClr val="0F1B2D"/>
          </a:solidFill>
          <a:ln w="12700">
            <a:solidFill>
              <a:srgbClr val="0F1B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97" name="Image 1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80683" y="5640019"/>
            <a:ext cx="168250" cy="168250"/>
          </a:xfrm>
          <a:prstGeom prst="rect">
            <a:avLst/>
          </a:prstGeom>
        </p:spPr>
      </p:pic>
      <p:sp>
        <p:nvSpPr>
          <p:cNvPr id="98" name="Text 82"/>
          <p:cNvSpPr txBox="1"/>
          <p:nvPr/>
        </p:nvSpPr>
        <p:spPr>
          <a:xfrm>
            <a:off x="6766560" y="5440680"/>
            <a:ext cx="2377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 speed</a:t>
            </a:r>
            <a:endParaRPr lang="en-US" sz="1300" dirty="0"/>
          </a:p>
        </p:txBody>
      </p:sp>
      <p:sp>
        <p:nvSpPr>
          <p:cNvPr id="99" name="Text 83"/>
          <p:cNvSpPr txBox="1"/>
          <p:nvPr/>
        </p:nvSpPr>
        <p:spPr>
          <a:xfrm>
            <a:off x="9144000" y="5440680"/>
            <a:ext cx="12801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F1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</a:t>
            </a:r>
            <a:endParaRPr lang="en-US" sz="1200" dirty="0"/>
          </a:p>
        </p:txBody>
      </p:sp>
      <p:sp>
        <p:nvSpPr>
          <p:cNvPr id="100" name="Text 84"/>
          <p:cNvSpPr txBox="1"/>
          <p:nvPr/>
        </p:nvSpPr>
        <p:spPr>
          <a:xfrm>
            <a:off x="10424160" y="5440680"/>
            <a:ext cx="777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m/s</a:t>
            </a:r>
            <a:endParaRPr lang="en-US" sz="1100" dirty="0"/>
          </a:p>
        </p:txBody>
      </p:sp>
      <p:sp>
        <p:nvSpPr>
          <p:cNvPr id="101" name="Text 85"/>
          <p:cNvSpPr txBox="1"/>
          <p:nvPr/>
        </p:nvSpPr>
        <p:spPr>
          <a:xfrm>
            <a:off x="11155680" y="544068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C846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1600" dirty="0"/>
          </a:p>
        </p:txBody>
      </p:sp>
      <p:sp>
        <p:nvSpPr>
          <p:cNvPr id="102" name="Text 86"/>
          <p:cNvSpPr txBox="1"/>
          <p:nvPr/>
        </p:nvSpPr>
        <p:spPr>
          <a:xfrm>
            <a:off x="548640" y="61264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5B6B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higher value generally increases wildfire risk    ↓ higher value generally decreases wildfire risk    ·    30-day precipitation is the strongest single predictor (17% of mean |SHAP|)</a:t>
            </a:r>
            <a:endParaRPr lang="en-US" sz="1050" dirty="0"/>
          </a:p>
        </p:txBody>
      </p:sp>
      <p:sp>
        <p:nvSpPr>
          <p:cNvPr id="104" name="Text 88"/>
          <p:cNvSpPr txBox="1"/>
          <p:nvPr/>
        </p:nvSpPr>
        <p:spPr>
          <a:xfrm>
            <a:off x="54864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AA6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Wildfire Ignition Risk Prediction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img/header.jp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B2D">
              <a:alpha val="78000"/>
            </a:srgbClr>
          </a:solidFill>
          <a:ln w="12700">
            <a:solidFill>
              <a:srgbClr val="0F1B2D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1"/>
          <p:cNvSpPr txBox="1"/>
          <p:nvPr/>
        </p:nvSpPr>
        <p:spPr>
          <a:xfrm>
            <a:off x="731520" y="64008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731520" y="1463040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2A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200" dirty="0"/>
          </a:p>
        </p:txBody>
      </p:sp>
      <p:sp>
        <p:nvSpPr>
          <p:cNvPr id="6" name="Shape 3"/>
          <p:cNvSpPr/>
          <p:nvPr/>
        </p:nvSpPr>
        <p:spPr>
          <a:xfrm>
            <a:off x="731520" y="2743200"/>
            <a:ext cx="7498080" cy="731520"/>
          </a:xfrm>
          <a:prstGeom prst="roundRect">
            <a:avLst>
              <a:gd name="adj" fmla="val 15000"/>
            </a:avLst>
          </a:prstGeom>
          <a:solidFill>
            <a:srgbClr val="1B2A45"/>
          </a:solidFill>
          <a:ln w="12700">
            <a:solidFill>
              <a:srgbClr val="1B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4"/>
          <p:cNvSpPr/>
          <p:nvPr/>
        </p:nvSpPr>
        <p:spPr>
          <a:xfrm>
            <a:off x="868680" y="2852928"/>
            <a:ext cx="512064" cy="512064"/>
          </a:xfrm>
          <a:prstGeom prst="ellipse">
            <a:avLst/>
          </a:prstGeom>
          <a:solidFill>
            <a:srgbClr val="1F3A63"/>
          </a:solidFill>
          <a:ln w="12700">
            <a:solidFill>
              <a:srgbClr val="1F3A6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937" y="2991185"/>
            <a:ext cx="235549" cy="235549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1554480" y="274320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126K observations, 12 years, one clear time-window framework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31520" y="3611880"/>
            <a:ext cx="7498080" cy="731520"/>
          </a:xfrm>
          <a:prstGeom prst="roundRect">
            <a:avLst>
              <a:gd name="adj" fmla="val 15000"/>
            </a:avLst>
          </a:prstGeom>
          <a:solidFill>
            <a:srgbClr val="1B2A45"/>
          </a:solidFill>
          <a:ln w="12700">
            <a:solidFill>
              <a:srgbClr val="1B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868680" y="3721608"/>
            <a:ext cx="512064" cy="512064"/>
          </a:xfrm>
          <a:prstGeom prst="ellipse">
            <a:avLst/>
          </a:prstGeom>
          <a:solidFill>
            <a:srgbClr val="E8702A"/>
          </a:solidFill>
          <a:ln w="12700">
            <a:solidFill>
              <a:srgbClr val="E8702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6937" y="3859865"/>
            <a:ext cx="235549" cy="235549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1554480" y="361188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with 14 features: 69% accuracy, 79% wildfire recall, spatially validated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731520" y="4480560"/>
            <a:ext cx="7498080" cy="731520"/>
          </a:xfrm>
          <a:prstGeom prst="roundRect">
            <a:avLst>
              <a:gd name="adj" fmla="val 15000"/>
            </a:avLst>
          </a:prstGeom>
          <a:solidFill>
            <a:srgbClr val="1B2A45"/>
          </a:solidFill>
          <a:ln w="12700">
            <a:solidFill>
              <a:srgbClr val="1B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0"/>
          <p:cNvSpPr/>
          <p:nvPr/>
        </p:nvSpPr>
        <p:spPr>
          <a:xfrm>
            <a:off x="868680" y="4590288"/>
            <a:ext cx="512064" cy="512064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06937" y="4728545"/>
            <a:ext cx="235549" cy="235549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554480" y="448056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choice is a policy choice: fewer missed fires vs. fewer false alarms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731520" y="5349240"/>
            <a:ext cx="7498080" cy="731520"/>
          </a:xfrm>
          <a:prstGeom prst="roundRect">
            <a:avLst>
              <a:gd name="adj" fmla="val 15000"/>
            </a:avLst>
          </a:prstGeom>
          <a:solidFill>
            <a:srgbClr val="1B2A45"/>
          </a:solidFill>
          <a:ln w="12700">
            <a:solidFill>
              <a:srgbClr val="1B2A4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3"/>
          <p:cNvSpPr/>
          <p:nvPr/>
        </p:nvSpPr>
        <p:spPr>
          <a:xfrm>
            <a:off x="868680" y="5458968"/>
            <a:ext cx="512064" cy="512064"/>
          </a:xfrm>
          <a:prstGeom prst="ellipse">
            <a:avLst/>
          </a:prstGeom>
          <a:solidFill>
            <a:srgbClr val="F2A93B"/>
          </a:solidFill>
          <a:ln w="12700">
            <a:solidFill>
              <a:srgbClr val="F2A93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6937" y="5597225"/>
            <a:ext cx="235549" cy="235549"/>
          </a:xfrm>
          <a:prstGeom prst="rect">
            <a:avLst/>
          </a:prstGeom>
        </p:spPr>
      </p:pic>
      <p:sp>
        <p:nvSpPr>
          <p:cNvPr id="21" name="Text 14"/>
          <p:cNvSpPr txBox="1"/>
          <p:nvPr/>
        </p:nvSpPr>
        <p:spPr>
          <a:xfrm>
            <a:off x="1554480" y="5349240"/>
            <a:ext cx="6583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 makes every single prediction explainable</a:t>
            </a:r>
            <a:endParaRPr lang="en-US" sz="1500" dirty="0"/>
          </a:p>
        </p:txBody>
      </p:sp>
      <p:sp>
        <p:nvSpPr>
          <p:cNvPr id="22" name="Text 15"/>
          <p:cNvSpPr txBox="1"/>
          <p:nvPr/>
        </p:nvSpPr>
        <p:spPr>
          <a:xfrm>
            <a:off x="731520" y="635508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B8C4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FireCastRL, US Wildfire Dataset 2014–2025 (Kaggle)  ·  Weather: GRIDMET  ·  Ignitions: IRWIN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891</TotalTime>
  <Words>1421</Words>
  <Application>Microsoft Macintosh PowerPoint</Application>
  <PresentationFormat>Widescreen</PresentationFormat>
  <Paragraphs>193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Wildfire Ignition Risk Prediction</dc:title>
  <dc:subject>PptxGenJS Presentation</dc:subject>
  <dc:creator>Wildfire Prediction Team</dc:creator>
  <cp:lastModifiedBy>Risk Team</cp:lastModifiedBy>
  <cp:revision>3</cp:revision>
  <dcterms:created xsi:type="dcterms:W3CDTF">2026-09-18T21:07:46Z</dcterms:created>
  <dcterms:modified xsi:type="dcterms:W3CDTF">2026-09-19T12:31:20Z</dcterms:modified>
</cp:coreProperties>
</file>